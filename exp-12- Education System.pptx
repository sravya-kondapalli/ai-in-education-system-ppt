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Plus Jakarta Sans"/>
      <p:bold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70970"/>
            <a:ext cx="6096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148929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TRANSFORMING GLOBAL LEARNING PARADIGMS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72779"/>
            <a:ext cx="860107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8FAFC"/>
                </a:solidFill>
                <a:latin typeface="Plus Jakarta Sans"/>
              </a:rPr>
              <a:t>Artificial Intelligence in the Education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89920"/>
            <a:ext cx="65722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Plus Jakarta Sans"/>
              </a:rPr>
              <a:t>Adaptive pathways, automated educator workflows, and the future of human-guided instruction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19800" y="2773560"/>
            <a:ext cx="5562600" cy="2257425"/>
          </a:xfrm>
          <a:prstGeom prst="roundRect">
            <a:avLst>
              <a:gd name="adj" fmla="val 6751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54498"/>
            <a:ext cx="48006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16573"/>
            <a:ext cx="48006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Market Trajectory &amp; Global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Rapid expansion driven by institutional transformation and digital learning investments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0646" y="3154560"/>
            <a:ext cx="3440906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0369A1"/>
                </a:solidFill>
                <a:latin typeface="Plus Jakarta Sans"/>
              </a:rPr>
              <a:t>$136.8B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5428" y="3992760"/>
            <a:ext cx="313134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Projected Market Size by 2035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7037" y="4288035"/>
            <a:ext cx="40481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Rapid capital deployment across K-12 and higher education institutions worldwide.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883098"/>
            <a:ext cx="57007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Exponential Sector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159323"/>
            <a:ext cx="4438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Global valuation surging toward a 34.5% compound annual growth 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245173"/>
            <a:ext cx="57007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High Stakeholder Utilization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521398"/>
            <a:ext cx="44386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Over 86% of educational organizations actively deploy generative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97398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97398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97398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349823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49823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349823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Core Pillars of AI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Key operational domains reshaping modern institutional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787973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Adaptive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102298"/>
            <a:ext cx="3143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Dynamic pacing matching individual skill levels.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87973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Predictive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02298"/>
            <a:ext cx="3143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Early warning signals reducing student dropout rates.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787973"/>
            <a:ext cx="388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Automated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4102298"/>
            <a:ext cx="31432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Instant evaluation for routine formative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33500" y="3306960"/>
            <a:ext cx="9525000" cy="152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33500" y="4002285"/>
            <a:ext cx="9525000" cy="152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33500" y="4697610"/>
            <a:ext cx="9525000" cy="1524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306960"/>
            <a:ext cx="904875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33500" y="4002285"/>
            <a:ext cx="504825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33500" y="4697610"/>
            <a:ext cx="342900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Stakeholder Adoption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Current utilization metrics across students, leaders, and teachers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3030735"/>
            <a:ext cx="3369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Students utilizing AI for study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3030735"/>
            <a:ext cx="628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3726060"/>
            <a:ext cx="3345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Education leaders using AI tools 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3726060"/>
            <a:ext cx="628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421385"/>
            <a:ext cx="2774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Teachers integrating AI weekly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4421385"/>
            <a:ext cx="628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50694" y="2854523"/>
            <a:ext cx="4831705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50694" y="3978473"/>
            <a:ext cx="4831705" cy="933450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82973"/>
            <a:ext cx="5798194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Modern Classrooms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Technology-enabled learning environments bridging knowledge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9294" y="3083123"/>
            <a:ext cx="521270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Interactive Digital Screens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9294" y="3359348"/>
            <a:ext cx="52127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Real-time collaborative problem solving during lessons.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294" y="4207073"/>
            <a:ext cx="521270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Personalized Workstations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9294" y="4483298"/>
            <a:ext cx="52127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Targeted modules meeting unique student capabilities.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81700" y="2759273"/>
            <a:ext cx="5600700" cy="2286000"/>
          </a:xfrm>
          <a:prstGeom prst="roundRect">
            <a:avLst>
              <a:gd name="adj" fmla="val 666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773560"/>
            <a:ext cx="4914900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97535"/>
            <a:ext cx="4914900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Redefining Educator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Shifting time from administrative burdens to active student mentorship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12893" y="3102173"/>
            <a:ext cx="1738312" cy="609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sz="4800" b="1" i="0" u="none">
                <a:solidFill>
                  <a:srgbClr val="0369A1"/>
                </a:solidFill>
                <a:latin typeface="Plus Jakarta Sans"/>
              </a:rPr>
              <a:t>55%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2331" y="3864173"/>
            <a:ext cx="3119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Improved Learning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7050" y="4159448"/>
            <a:ext cx="3810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Educator consensus on student achievement gains when AI tools are integrated responsibly.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002160"/>
            <a:ext cx="58507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Administrative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278385"/>
            <a:ext cx="45529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80% of teachers report faster assignment and worksheet prep.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326135"/>
            <a:ext cx="585073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Targeted Interventions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602360"/>
            <a:ext cx="5572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Data-driven alerts surface student learning gaps early.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5460"/>
            <a:ext cx="5314950" cy="2409825"/>
          </a:xfrm>
          <a:prstGeom prst="roundRect">
            <a:avLst>
              <a:gd name="adj" fmla="val 632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2811660"/>
            <a:ext cx="5314950" cy="2257425"/>
          </a:xfrm>
          <a:prstGeom prst="roundRect">
            <a:avLst>
              <a:gd name="adj" fmla="val 67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14400" y="3354585"/>
            <a:ext cx="4705350" cy="1333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4030860"/>
            <a:ext cx="4705350" cy="1333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4707135"/>
            <a:ext cx="4705350" cy="1333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3354585"/>
            <a:ext cx="2823120" cy="1333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4030860"/>
            <a:ext cx="2682031" cy="1333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4707135"/>
            <a:ext cx="3293715" cy="1333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0" y="3192660"/>
            <a:ext cx="51435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Academic Efficiency &amp;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Key performance indicators across adaptive tutoring trials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502" y="3811785"/>
            <a:ext cx="276284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Task Distribution Share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0862" y="4164210"/>
            <a:ext cx="40481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Plus Jakarta Sans"/>
              </a:rPr>
              <a:t>69.6% of market revenue focuses on intelligent software solutions and adaptive learning platforms.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040260"/>
            <a:ext cx="27503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Student Engagement Increase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325" y="3040260"/>
            <a:ext cx="638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16535"/>
            <a:ext cx="22026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Learning Efficiency 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6375" y="3716535"/>
            <a:ext cx="619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57%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92810"/>
            <a:ext cx="27979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Course Completion Rate 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850" y="4392810"/>
            <a:ext cx="628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70%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54498"/>
            <a:ext cx="4831705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978473"/>
            <a:ext cx="4831705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205" y="1882973"/>
            <a:ext cx="5798194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Higher Education &amp; Research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Collaborative environments empowered by advanced analytical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83098"/>
            <a:ext cx="57415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Effective Literature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159323"/>
            <a:ext cx="44697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73% of researchers report high efficacy when using AI for literature reviews.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207073"/>
            <a:ext cx="57415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Campus Inquiry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483298"/>
            <a:ext cx="44697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Chatbots successfully resolve nearly 91% of administrative inquiries instantly.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7410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97410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97410"/>
            <a:ext cx="3505200" cy="1609725"/>
          </a:xfrm>
          <a:prstGeom prst="roundRect">
            <a:avLst>
              <a:gd name="adj" fmla="val 71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49835"/>
            <a:ext cx="266700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49835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449835"/>
            <a:ext cx="23812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Teacher Empowerment &amp; Time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Key task areas where AI reduces educator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887985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Assignment Prep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202310"/>
            <a:ext cx="381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80% faster worksheet creation.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87985"/>
            <a:ext cx="40005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Grading Assistance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02310"/>
            <a:ext cx="381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79% reduction in grading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887985"/>
            <a:ext cx="38862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Yearly Savings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4202310"/>
            <a:ext cx="381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Average 6 weeks saved per year.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750694" y="2754510"/>
            <a:ext cx="4831705" cy="933450"/>
          </a:xfrm>
          <a:prstGeom prst="roundRect">
            <a:avLst>
              <a:gd name="adj" fmla="val 1224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50694" y="3878460"/>
            <a:ext cx="4831705" cy="1133475"/>
          </a:xfrm>
          <a:prstGeom prst="roundRect">
            <a:avLst>
              <a:gd name="adj" fmla="val 1008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82973"/>
            <a:ext cx="5798194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Governance Gaps &amp; Policy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Rapid adoption has outpaced formal institutional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9294" y="2983110"/>
            <a:ext cx="521270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Limited Institutional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9294" y="3259335"/>
            <a:ext cx="52127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Only 20% of universities currently maintain a formal AI policy.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294" y="4107060"/>
            <a:ext cx="521270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Primary Educator Concerns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9294" y="4383285"/>
            <a:ext cx="446975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Plagiarism risks and data security remain top institutional priorities.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33500" y="3306960"/>
            <a:ext cx="95250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33500" y="4002285"/>
            <a:ext cx="95250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33500" y="4697610"/>
            <a:ext cx="952500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306960"/>
            <a:ext cx="457200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33500" y="4002285"/>
            <a:ext cx="361950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33500" y="4697610"/>
            <a:ext cx="5238750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Regional Growth &amp; Global Momentum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9907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Comparative growth indicators across key international markets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3030735"/>
            <a:ext cx="3738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Asia-Pacific EdTech Growth Rate (CAGR)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3030735"/>
            <a:ext cx="628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48%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3500" y="3726060"/>
            <a:ext cx="2667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North American Market Share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3726060"/>
            <a:ext cx="628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421385"/>
            <a:ext cx="3333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Educators Reporting Positive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4421385"/>
            <a:ext cx="6286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55%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7400" y="4815780"/>
            <a:ext cx="4572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07781" y="2004119"/>
            <a:ext cx="1976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2835" y="2327969"/>
            <a:ext cx="10626328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Plus Jakarta Sans"/>
              </a:rPr>
              <a:t>Balancing Innovation with Human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615630"/>
            <a:ext cx="80962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Technology empowers efficiency, personalization, and scale, but empathy, mentorship, and critical human connection remain irreplaceable.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812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Plus Jakarta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8225"/>
            <a:ext cx="7917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https://avonic.com/wp-content/uploads/2020/12/Stories_Header_CaseStudy-HyperionHighschool.png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8250"/>
            <a:ext cx="1809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avonic.com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09750"/>
            <a:ext cx="10525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https://library.hull.ac.uk/image-library/general/brynmor-jones-library-2862.x30b4dad4.jpg?w=1200&amp;h=800&amp;crop=800,800,200,0&amp;h=800&amp;f=webp&amp;q=80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09775"/>
            <a:ext cx="2214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library.hull.ac.uk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43175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Plus Jakarta Sans"/>
              </a:rPr>
              <a:t>https://res-2.cloudinary.com/adiutor-co/image/upload/q_auto/v1/ghost-blog-images/happy-black-teacher-schoolgirl-using-digital-tablet-classroom_637285-9450.jpg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95600"/>
            <a:ext cx="166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adiutor.co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491</Words>
  <Application>Microsoft Office PowerPoint</Application>
  <PresentationFormat>Widescreen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2026-10-06T04:35:44Z</dcterms:modified>
  <cp:category/>
</cp:coreProperties>
</file>